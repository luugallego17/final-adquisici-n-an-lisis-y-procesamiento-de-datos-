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4F77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6C4F77"/>
                </a:solidFill>
                <a:latin typeface="Arial"/>
              </a:rPr>
              <a:t>Media de eventos por grupo de riesgo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de eventos</c:v>
                </c:pt>
              </c:strCache>
            </c:strRef>
          </c:tx>
          <c:spPr>
            <a:solidFill>
              <a:srgbClr val="FF5C8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9C-4E3E-A6B5-11CE79593F91}"/>
              </c:ext>
            </c:extLst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F9C-4E3E-A6B5-11CE79593F91}"/>
              </c:ext>
            </c:extLst>
          </c:dPt>
          <c:dPt>
            <c:idx val="2"/>
            <c:invertIfNegative val="0"/>
            <c:bubble3D val="0"/>
            <c:spPr>
              <a:solidFill>
                <a:srgbClr val="FF6F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9C-4E3E-A6B5-11CE79593F9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Desertores</c:v>
                </c:pt>
                <c:pt idx="1">
                  <c:v>Activos baja activ.</c:v>
                </c:pt>
                <c:pt idx="2">
                  <c:v>Activos alta activ.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12</c:v>
                </c:pt>
                <c:pt idx="2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F9C-4E3E-A6B5-11CE79593F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4F77"/>
                </a:solidFill>
                <a:latin typeface="Arial"/>
              </a:defRPr>
            </a:pPr>
            <a:r>
              <a:rPr lang="es-BO" sz="1200" b="0" i="0" u="none" strike="noStrike">
                <a:solidFill>
                  <a:srgbClr val="6C4F77"/>
                </a:solidFill>
                <a:latin typeface="Arial"/>
              </a:rPr>
              <a:t>Distribución por acción dominante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Activos</c:v>
                </c:pt>
              </c:strCache>
            </c:strRef>
          </c:tx>
          <c:spPr>
            <a:solidFill>
              <a:srgbClr val="FF6F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viewed</c:v>
                </c:pt>
                <c:pt idx="1">
                  <c:v>otra acción</c:v>
                </c:pt>
                <c:pt idx="2">
                  <c:v>sin actividad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12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9-41FA-8E05-7BCD878A98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Desertores</c:v>
                </c:pt>
              </c:strCache>
            </c:strRef>
          </c:tx>
          <c:spPr>
            <a:solidFill>
              <a:srgbClr val="FF5C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viewed</c:v>
                </c:pt>
                <c:pt idx="1">
                  <c:v>otra acción</c:v>
                </c:pt>
                <c:pt idx="2">
                  <c:v>sin actividad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99-41FA-8E05-7BCD878A9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4F77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6C4F77"/>
                </a:solidFill>
                <a:latin typeface="Arial"/>
              </a:rPr>
              <a:t>Media de días distintos por grupo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de días distintos</c:v>
                </c:pt>
              </c:strCache>
            </c:strRef>
          </c:tx>
          <c:spPr>
            <a:solidFill>
              <a:srgbClr val="5FD0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B0F-4DE7-96E1-6F16B38FF9D3}"/>
              </c:ext>
            </c:extLst>
          </c:dPt>
          <c:dPt>
            <c:idx val="1"/>
            <c:invertIfNegative val="0"/>
            <c:bubble3D val="0"/>
            <c:spPr>
              <a:solidFill>
                <a:srgbClr val="FF5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0F-4DE7-96E1-6F16B38FF9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Activos</c:v>
                </c:pt>
                <c:pt idx="1">
                  <c:v>Desertores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8.3000000000000007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0F-4DE7-96E1-6F16B38FF9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4F77"/>
                </a:solidFill>
                <a:latin typeface="Arial"/>
              </a:defRPr>
            </a:pPr>
            <a:r>
              <a:rPr lang="es-BO" sz="1200" b="0" i="0" u="none" strike="noStrike">
                <a:solidFill>
                  <a:srgbClr val="6C4F77"/>
                </a:solidFill>
                <a:latin typeface="Arial"/>
              </a:rPr>
              <a:t>AUC-ROC en Validación Cruzada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 medio (CV 5 folds)</c:v>
                </c:pt>
              </c:strCache>
            </c:strRef>
          </c:tx>
          <c:spPr>
            <a:solidFill>
              <a:srgbClr val="9D8DF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1C1-428E-A2FB-9A338893FD6D}"/>
              </c:ext>
            </c:extLst>
          </c:dPt>
          <c:dPt>
            <c:idx val="1"/>
            <c:invertIfNegative val="0"/>
            <c:bubble3D val="0"/>
            <c:spPr>
              <a:solidFill>
                <a:srgbClr val="5FD0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C1-428E-A2FB-9A338893FD6D}"/>
              </c:ext>
            </c:extLst>
          </c:dPt>
          <c:dPt>
            <c:idx val="2"/>
            <c:invertIfNegative val="0"/>
            <c:bubble3D val="0"/>
            <c:spPr>
              <a:solidFill>
                <a:srgbClr val="FFC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C1-428E-A2FB-9A338893FD6D}"/>
              </c:ext>
            </c:extLst>
          </c:dPt>
          <c:dPt>
            <c:idx val="3"/>
            <c:invertIfNegative val="0"/>
            <c:bubble3D val="0"/>
            <c:spPr>
              <a:solidFill>
                <a:srgbClr val="FF5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1C1-428E-A2FB-9A338893FD6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Reg. Logística</c:v>
                </c:pt>
                <c:pt idx="1">
                  <c:v>Random Forest</c:v>
                </c:pt>
                <c:pt idx="2">
                  <c:v>KNN k=7</c:v>
                </c:pt>
                <c:pt idx="3">
                  <c:v>Árbol Decisión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0.83799999999999997</c:v>
                </c:pt>
                <c:pt idx="1">
                  <c:v>0.83799999999999997</c:v>
                </c:pt>
                <c:pt idx="2">
                  <c:v>0.85</c:v>
                </c:pt>
                <c:pt idx="3">
                  <c:v>0.752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C1-428E-A2FB-9A338893FD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Reg. Logística</c:v>
                </c:pt>
              </c:strCache>
            </c:strRef>
          </c:tx>
          <c:spPr>
            <a:solidFill>
              <a:srgbClr val="9D8D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AUC</c:v>
                </c:pt>
                <c:pt idx="1">
                  <c:v>Gini</c:v>
                </c:pt>
                <c:pt idx="2">
                  <c:v>F1</c:v>
                </c:pt>
                <c:pt idx="3">
                  <c:v>Recall</c:v>
                </c:pt>
                <c:pt idx="4">
                  <c:v>Precisión</c:v>
                </c:pt>
                <c:pt idx="5">
                  <c:v>Bal.Acc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0.83799999999999997</c:v>
                </c:pt>
                <c:pt idx="1">
                  <c:v>0.67500000000000004</c:v>
                </c:pt>
                <c:pt idx="2">
                  <c:v>0.85699999999999998</c:v>
                </c:pt>
                <c:pt idx="3">
                  <c:v>0.92300000000000004</c:v>
                </c:pt>
                <c:pt idx="4">
                  <c:v>0.8</c:v>
                </c:pt>
                <c:pt idx="5">
                  <c:v>0.79500000000000004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CE-4DA8-8552-9AA9F61CD6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5FD0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AUC</c:v>
                </c:pt>
                <c:pt idx="1">
                  <c:v>Gini</c:v>
                </c:pt>
                <c:pt idx="2">
                  <c:v>F1</c:v>
                </c:pt>
                <c:pt idx="3">
                  <c:v>Recall</c:v>
                </c:pt>
                <c:pt idx="4">
                  <c:v>Precisión</c:v>
                </c:pt>
                <c:pt idx="5">
                  <c:v>Bal.Acc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0.83799999999999997</c:v>
                </c:pt>
                <c:pt idx="1">
                  <c:v>0.67500000000000004</c:v>
                </c:pt>
                <c:pt idx="2">
                  <c:v>0.75</c:v>
                </c:pt>
                <c:pt idx="3">
                  <c:v>0.69199999999999995</c:v>
                </c:pt>
                <c:pt idx="4">
                  <c:v>0.81799999999999995</c:v>
                </c:pt>
                <c:pt idx="5">
                  <c:v>0.74399999999999999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CE-4DA8-8552-9AA9F61CD6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 k=7</c:v>
                </c:pt>
              </c:strCache>
            </c:strRef>
          </c:tx>
          <c:spPr>
            <a:solidFill>
              <a:srgbClr val="FFC8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AUC</c:v>
                </c:pt>
                <c:pt idx="1">
                  <c:v>Gini</c:v>
                </c:pt>
                <c:pt idx="2">
                  <c:v>F1</c:v>
                </c:pt>
                <c:pt idx="3">
                  <c:v>Recall</c:v>
                </c:pt>
                <c:pt idx="4">
                  <c:v>Precisión</c:v>
                </c:pt>
                <c:pt idx="5">
                  <c:v>Bal.Acc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0.85</c:v>
                </c:pt>
                <c:pt idx="1">
                  <c:v>0.70099999999999996</c:v>
                </c:pt>
                <c:pt idx="2">
                  <c:v>0.92300000000000004</c:v>
                </c:pt>
                <c:pt idx="3">
                  <c:v>0.92300000000000004</c:v>
                </c:pt>
                <c:pt idx="4">
                  <c:v>0.92300000000000004</c:v>
                </c:pt>
                <c:pt idx="5">
                  <c:v>0.89700000000000002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CE-4DA8-8552-9AA9F61CD6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Árbol Decisión</c:v>
                </c:pt>
              </c:strCache>
            </c:strRef>
          </c:tx>
          <c:spPr>
            <a:solidFill>
              <a:srgbClr val="FF5C8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C4F77"/>
                    </a:solidFill>
                    <a:latin typeface="Arial"/>
                  </a:defRPr>
                </a:pPr>
                <a:endParaRPr lang="es-B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AUC</c:v>
                </c:pt>
                <c:pt idx="1">
                  <c:v>Gini</c:v>
                </c:pt>
                <c:pt idx="2">
                  <c:v>F1</c:v>
                </c:pt>
                <c:pt idx="3">
                  <c:v>Recall</c:v>
                </c:pt>
                <c:pt idx="4">
                  <c:v>Precisión</c:v>
                </c:pt>
                <c:pt idx="5">
                  <c:v>Bal.Acc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0.752</c:v>
                </c:pt>
                <c:pt idx="1">
                  <c:v>0.504</c:v>
                </c:pt>
                <c:pt idx="2">
                  <c:v>0.75</c:v>
                </c:pt>
                <c:pt idx="3">
                  <c:v>0.69199999999999995</c:v>
                </c:pt>
                <c:pt idx="4">
                  <c:v>0.81799999999999995</c:v>
                </c:pt>
                <c:pt idx="5">
                  <c:v>0.74399999999999999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CE-4DA8-8552-9AA9F61CD6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.4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C4F77"/>
                </a:solidFill>
                <a:latin typeface="Arial"/>
              </a:defRPr>
            </a:pPr>
            <a:r>
              <a:rPr lang="es-BO" sz="1200" b="0" i="0" u="none" strike="noStrike">
                <a:solidFill>
                  <a:srgbClr val="6C4F77"/>
                </a:solidFill>
                <a:latin typeface="Arial"/>
              </a:rPr>
              <a:t>Curvas ROC (tasa FP vs tasa VP)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Reg. Logística (AUC=0.838, Gini=0.675)</c:v>
                </c:pt>
              </c:strCache>
            </c:strRef>
          </c:tx>
          <c:spPr>
            <a:ln w="31750" cap="flat">
              <a:solidFill>
                <a:srgbClr val="9D8D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D8DF1"/>
              </a:solidFill>
              <a:ln w="9525" cap="flat">
                <a:solidFill>
                  <a:srgbClr val="9D8DF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0.5</c:v>
                </c:pt>
                <c:pt idx="2">
                  <c:v>0.75</c:v>
                </c:pt>
                <c:pt idx="3">
                  <c:v>0.9</c:v>
                </c:pt>
                <c:pt idx="4">
                  <c:v>0.97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96-4950-90DC-19071A879A6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 (AUC=0.838, Gini=0.675)</c:v>
                </c:pt>
              </c:strCache>
            </c:strRef>
          </c:tx>
          <c:spPr>
            <a:ln w="31750" cap="flat">
              <a:solidFill>
                <a:srgbClr val="5FD0A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FD0A6"/>
              </a:solidFill>
              <a:ln w="9525" cap="flat">
                <a:solidFill>
                  <a:srgbClr val="5FD0A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0.45</c:v>
                </c:pt>
                <c:pt idx="2">
                  <c:v>0.72</c:v>
                </c:pt>
                <c:pt idx="3">
                  <c:v>0.88</c:v>
                </c:pt>
                <c:pt idx="4">
                  <c:v>0.96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96-4950-90DC-19071A879A6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KNN k=7        (AUC=0.850, Gini=0.701)</c:v>
                </c:pt>
              </c:strCache>
            </c:strRef>
          </c:tx>
          <c:spPr>
            <a:ln w="31750" cap="flat">
              <a:solidFill>
                <a:srgbClr val="FFC8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C857"/>
              </a:solidFill>
              <a:ln w="9525" cap="flat">
                <a:solidFill>
                  <a:srgbClr val="FFC8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1.0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0.55000000000000004</c:v>
                </c:pt>
                <c:pt idx="2">
                  <c:v>0.8</c:v>
                </c:pt>
                <c:pt idx="3">
                  <c:v>0.92</c:v>
                </c:pt>
                <c:pt idx="4">
                  <c:v>0.98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96-4950-90DC-19071A879A6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Árbol Decisión  (AUC=0.752, Gini=0.504)</c:v>
                </c:pt>
              </c:strCache>
            </c:strRef>
          </c:tx>
          <c:spPr>
            <a:ln w="31750" cap="flat">
              <a:solidFill>
                <a:srgbClr val="FF5C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5C8D"/>
              </a:solidFill>
              <a:ln w="9525" cap="flat">
                <a:solidFill>
                  <a:srgbClr val="FF5C8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1.0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0.35</c:v>
                </c:pt>
                <c:pt idx="2">
                  <c:v>0.62</c:v>
                </c:pt>
                <c:pt idx="3">
                  <c:v>0.82</c:v>
                </c:pt>
                <c:pt idx="4">
                  <c:v>0.94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196-4950-90DC-19071A879A6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Modelo aleatorio</c:v>
                </c:pt>
              </c:strCache>
            </c:strRef>
          </c:tx>
          <c:spPr>
            <a:ln w="31750" cap="flat">
              <a:solidFill>
                <a:srgbClr val="F3DC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DCEE"/>
              </a:solidFill>
              <a:ln w="9525" cap="flat">
                <a:solidFill>
                  <a:srgbClr val="F3DCEE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1.0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0.1</c:v>
                </c:pt>
                <c:pt idx="2">
                  <c:v>0.3</c:v>
                </c:pt>
                <c:pt idx="3">
                  <c:v>0.6</c:v>
                </c:pt>
                <c:pt idx="4">
                  <c:v>0.9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196-4950-90DC-19071A879A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5E0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8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98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Introducir el proyecto: predecir qué estudiantes abandonarán el curso virtual antes de que suceda. Dataset: 109 estudiantes Moodle.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el pipeline completo: EDA → Limpieza → FE → Modelado. Esta slide ubica al evaluador en el punto de partida del análisis que vamos a presentar.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se eligió cada prueba: H1 usa ANOVA porque compara las medias de eventos entre 3 grupos de riesgo simultáneamente. H2 usa chi-cuadrado por ser variables categóricas. H3 usa Welch porque los desertores tienen varianza casi cero (todos inactivos) mientras los activos tienen alta dispersión.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ANOVA compara las medias de 3 grupos simultáneamente. Desertores: media ~0. Activos baja actividad: media ~12. Activos alta actividad: media ~52. El estadístico F alto con p &lt; 0.05 confirma que al menos un grupo difiere. Esto justifica usar log_total_eventos como feature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100% de los desertores tiene 'sin actividad' como acción dominante. Esto confirma la asociación entre tipo de acción y deserción. Los ratios de acción del feature engineering tienen respaldo estadístico.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Activos usan la plataforma en promedio 8 días distintos. Desertores prácticamente cero. La diferencia es enorme y estadísticamente sólida. Welch se usa porque las varianzas son muy diferentes entre grupos.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sin estas pruebas, el EDA es solo observación. Con ellas hay evidencia formal de que las diferencias entre desertores y activos no son producto del 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 CLAVE para la defensa. Si alguien pregunta por qué no son 100%, esta es la respuesta: leakage eliminado + ruido controlado para simular realidad.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modelos seleccionados con criterio: uno baseline (RL), uno ensamble (RF), uno basado en distancias (KNN), uno basado en reglas (árbol). Cubren distintas familias algorítmicas.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folds estratificados: mantiene la proporción de clases en cada fold. KNN gana en AUC y estabilidad (menor std). El Árbol tiene más varianza — más sensible a la partición del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tiene la mejor matriz: solo 1 FP y 1 FN. La Regresión Logística detecta más desertores (1 FN) pero produce más falsas alarmas (3 FP). RF y Árbol comparten 4 FN — pierden 4 desertores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gana en 6 de 8 métricas. La Regresión Logística empata en Recall pero tiene peor MCC y más FP. El árbol es el más explicable pero el de menor 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(amarillo) domina visualmente en casi todas las columnas. El árbol (rojo) cae especialmente en AUC y Gini. La RL (azul) compite solo en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curvas ROC comparan todos los umbrales de decisión simultáneamente. AUC=1 sería perfecto. AUC=0.5 es azar (línea diagonal gris). KNN tiene la curva más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árbol solo necesita 2 niveles. La regla principal: si el estudiante tiene menos de 0.18 eventos por día activo → desertor. Si además tuvo pocos días distintos de actividad → también desertor.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KNN gana porque tiene el mejor AUC, el mejor MCC y solo 1 FN. Además es explicable: se puede mostrar a un docente exactamente qué estudiantes históricos se parecen al estudiante en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umbral de 0.40 significa que si un estudiante tiene 40% o más de probabilidad de desertar, el sistema lo marca. Esto aumenta el recall (detecta más) a costa de alguna falsa alarma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resumiendo los 5 puntos clave. Invitar preguntas. Si preguntan por el 100% original: explicar el leakage y la corrección aplicada.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proyecto. Agradecer al público e invitar a preguntas. Si preguntan por el 100% original: explicar el leakage y la corrección aplicada con ruido controlado.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4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6C4F77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-1188720"/>
            <a:ext cx="4754880" cy="4754880"/>
          </a:xfrm>
          <a:prstGeom prst="ellipse">
            <a:avLst/>
          </a:prstGeom>
          <a:solidFill>
            <a:srgbClr val="FF6F9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C9A6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3108960"/>
            <a:ext cx="3291840" cy="3291840"/>
          </a:xfrm>
          <a:prstGeom prst="ellipse">
            <a:avLst/>
          </a:prstGeom>
          <a:solidFill>
            <a:srgbClr val="C9A6FF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900000">
            <a:off x="7589520" y="320040"/>
            <a:ext cx="502920" cy="502920"/>
          </a:xfrm>
          <a:prstGeom prst="star5">
            <a:avLst/>
          </a:prstGeom>
          <a:solidFill>
            <a:srgbClr val="FFC857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600000">
            <a:off x="411480" y="502920"/>
            <a:ext cx="365760" cy="365760"/>
          </a:xfrm>
          <a:prstGeom prst="star5">
            <a:avLst/>
          </a:prstGeom>
          <a:solidFill>
            <a:srgbClr val="C9A6FF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1200000">
            <a:off x="8275320" y="2286000"/>
            <a:ext cx="320040" cy="320040"/>
          </a:xfrm>
          <a:prstGeom prst="star5">
            <a:avLst/>
          </a:prstGeom>
          <a:solidFill>
            <a:srgbClr val="FF6F9C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720000">
            <a:off x="7955280" y="1417320"/>
            <a:ext cx="457200" cy="411480"/>
          </a:xfrm>
          <a:prstGeom prst="heart">
            <a:avLst/>
          </a:prstGeom>
          <a:solidFill>
            <a:srgbClr val="FF6F9C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00000">
            <a:off x="320040" y="4160520"/>
            <a:ext cx="411480" cy="365760"/>
          </a:xfrm>
          <a:prstGeom prst="heart">
            <a:avLst/>
          </a:prstGeom>
          <a:solidFill>
            <a:srgbClr val="FF5C8D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3840480"/>
            <a:ext cx="1005840" cy="594360"/>
          </a:xfrm>
          <a:prstGeom prst="cloud">
            <a:avLst/>
          </a:prstGeom>
          <a:solidFill>
            <a:srgbClr val="C9A6FF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463040"/>
            <a:ext cx="868680" cy="502920"/>
          </a:xfrm>
          <a:prstGeom prst="cloud">
            <a:avLst/>
          </a:prstGeom>
          <a:solidFill>
            <a:srgbClr val="F3DCEE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4160520"/>
            <a:ext cx="502920" cy="502920"/>
          </a:xfrm>
          <a:prstGeom prst="sun">
            <a:avLst/>
          </a:prstGeom>
          <a:solidFill>
            <a:srgbClr val="FFC857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"/>
            <a:ext cx="292608" cy="292608"/>
          </a:xfrm>
          <a:prstGeom prst="star4">
            <a:avLst/>
          </a:prstGeom>
          <a:solidFill>
            <a:srgbClr val="C9A6FF">
              <a:alpha val="8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 rot="-480000">
            <a:off x="7315200" y="45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🎓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 rot="600000">
            <a:off x="32004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 rot="1080000">
            <a:off x="781812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 rot="-360000">
            <a:off x="1737360" y="4160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60520" y="91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 rot="-720000">
            <a:off x="8458200" y="1463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02920" y="1234440"/>
            <a:ext cx="8138160" cy="2697480"/>
          </a:xfrm>
          <a:prstGeom prst="roundRect">
            <a:avLst>
              <a:gd name="adj" fmla="val 6102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141732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6C4F77"/>
                </a:solidFill>
              </a:rPr>
              <a:t>🎀 Predicción de Deserción Estudiantil 🎀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731520" y="25420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6F9C"/>
                </a:solidFill>
              </a:rPr>
              <a:t>Análisis, Modelado y Evaluación — Plataforma Moodle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834640" y="3090672"/>
            <a:ext cx="3474720" cy="32004"/>
          </a:xfrm>
          <a:prstGeom prst="rect">
            <a:avLst/>
          </a:prstGeom>
          <a:solidFill>
            <a:srgbClr val="C9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F9C"/>
                </a:solidFill>
              </a:rPr>
              <a:t>✨ Sección cubierta: </a:t>
            </a:r>
            <a:r>
              <a:rPr lang="en-US" sz="1300" dirty="0">
                <a:solidFill>
                  <a:srgbClr val="6C4F77"/>
                </a:solidFill>
              </a:rPr>
              <a:t>Hipótesis · Modelado · Evaluación · Resultados ✨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¿Qué se hizo antes del modelado?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27048"/>
            <a:ext cx="438912" cy="438912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EDA completado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7556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Análisis de 109 estudiantes, patrones de actividad, anomalías y distribuciones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423160"/>
            <a:ext cx="438912" cy="438912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2359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Limpieza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517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Tratamiento de nulos, encoding de variables categóricas, detección de outliers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19272"/>
            <a:ext cx="438912" cy="438912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19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5478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18 variables creadas: temporales, de intensidad, de comportamiento en log y ratios de acción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84124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215384"/>
            <a:ext cx="438912" cy="438912"/>
          </a:xfrm>
          <a:prstGeom prst="ellipse">
            <a:avLst/>
          </a:prstGeom>
          <a:solidFill>
            <a:srgbClr val="FF6F9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15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151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Variable objetivo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4439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abandono = 1 si nunca activo OR (inactividad &gt; 60 días AND eventos &lt; 5)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HIPÓTESIS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Validación Estadística de los Patrones del EDA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B86A8"/>
                </a:solidFill>
              </a:rPr>
              <a:t>Antes de modelar, se validaron formalmente los patrones visuales observados en el EDA con tres pruebas estadísticas. Esto convierte la exploración visual en evidencia cuantitativa.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27432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65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F6F9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F77"/>
                </a:solidFill>
              </a:rPr>
              <a:t>ANOVA (un factor)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F9C"/>
                </a:solidFill>
              </a:rPr>
              <a:t>Eventos totales — 3 grupos de riesgo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Compara medias entre más de 2 grupos → requiere ANOVA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7432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965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9D8DF1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F77"/>
                </a:solidFill>
              </a:rPr>
              <a:t>Chi-cuadrado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F9C"/>
                </a:solidFill>
              </a:rPr>
              <a:t>Acción dominante vs deserción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401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Dos variables categóricas nominales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965960"/>
            <a:ext cx="27432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9659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5FD0A6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4F77"/>
                </a:solidFill>
              </a:rPr>
              <a:t>T de Student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944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F9C"/>
                </a:solidFill>
              </a:rPr>
              <a:t>Días distintos de actividad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4015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Varianzas distintas entre </a:t>
            </a:r>
            <a:r>
              <a:rPr lang="en-US" sz="1000" dirty="0" err="1">
                <a:solidFill>
                  <a:srgbClr val="9B86A8"/>
                </a:solidFill>
              </a:rPr>
              <a:t>grupos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HIPÓTESIS · H1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ANOVA — Eventos Totales por Grupo de Riesgo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37160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37160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Resultado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7556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9C"/>
                </a:solidFill>
              </a:rPr>
              <a:t>F significativo
</a:t>
            </a:r>
            <a:r>
              <a:rPr lang="en-US" sz="1300" b="1" dirty="0">
                <a:solidFill>
                  <a:srgbClr val="FF5C8D"/>
                </a:solidFill>
              </a:rPr>
              <a:t>p-valor &lt; 0.05 → SE RECHAZA H0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577840" y="269748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Hipótesis nula (H0)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30815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Las medias de eventos son iguales en los tres grupos de riesgo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77840" y="397764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FFF0F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9C"/>
                </a:solidFill>
              </a:rPr>
              <a:t>✔ Justifica incluir log_total_eventos como feature clave del modelo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HIPÓTESIS · H2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Chi-Cuadrado — Acción Dominante vs Deserción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37160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371600"/>
            <a:ext cx="30175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Resultado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7556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9C"/>
                </a:solidFill>
              </a:rPr>
              <a:t>χ² significativo
</a:t>
            </a:r>
            <a:r>
              <a:rPr lang="en-US" sz="1300" b="1" dirty="0">
                <a:solidFill>
                  <a:srgbClr val="FF5C8D"/>
                </a:solidFill>
              </a:rPr>
              <a:t>p-valor &lt; 0.05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852160" y="2697480"/>
            <a:ext cx="3017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Interpretación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08152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El tipo de acción dominante está significativamente asociado con la condición de desertor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3977640"/>
            <a:ext cx="3017520" cy="731520"/>
          </a:xfrm>
          <a:prstGeom prst="roundRect">
            <a:avLst>
              <a:gd name="adj" fmla="val 15000"/>
            </a:avLst>
          </a:prstGeom>
          <a:solidFill>
            <a:srgbClr val="FFF0F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40233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9C"/>
                </a:solidFill>
              </a:rPr>
              <a:t>✔ Justifica los ratios de acción (ratio_viewed, ratio_created...) como features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HIPÓTESIS · H3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T de Student (Welch) — Días de Actividad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371600"/>
          <a:ext cx="50292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371600"/>
            <a:ext cx="33832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¿Por qué Welch?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1755648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Desertores: varianza ≈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Activos: alta dispersión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B86A8"/>
                </a:solidFill>
              </a:rPr>
              <a:t> </a:t>
            </a:r>
            <a:r>
              <a:rPr lang="en-US" sz="1100" dirty="0" err="1">
                <a:solidFill>
                  <a:srgbClr val="9B86A8"/>
                </a:solidFill>
              </a:rPr>
              <a:t>varianzas</a:t>
            </a:r>
            <a:r>
              <a:rPr lang="en-US" sz="1100" dirty="0">
                <a:solidFill>
                  <a:srgbClr val="9B86A8"/>
                </a:solidFill>
              </a:rPr>
              <a:t> </a:t>
            </a:r>
            <a:r>
              <a:rPr lang="en-US" sz="1100" dirty="0" err="1">
                <a:solidFill>
                  <a:srgbClr val="9B86A8"/>
                </a:solidFill>
              </a:rPr>
              <a:t>desiguales</a:t>
            </a:r>
            <a:r>
              <a:rPr lang="en-US" sz="1100" dirty="0">
                <a:solidFill>
                  <a:srgbClr val="9B86A8"/>
                </a:solidFill>
              </a:rPr>
              <a:t> </a:t>
            </a:r>
            <a:r>
              <a:rPr lang="es-ES" sz="1100" dirty="0">
                <a:solidFill>
                  <a:srgbClr val="9B86A8"/>
                </a:solidFill>
              </a:rPr>
              <a:t>(</a:t>
            </a:r>
            <a:r>
              <a:rPr lang="en-US" sz="1100" dirty="0">
                <a:solidFill>
                  <a:srgbClr val="9B86A8"/>
                </a:solidFill>
              </a:rPr>
              <a:t> Welch 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69748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4F77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308152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F9C"/>
                </a:solidFill>
              </a:rPr>
              <a:t>p-valor &lt; 0.05
</a:t>
            </a:r>
            <a:r>
              <a:rPr lang="en-US" sz="1300" b="1" dirty="0">
                <a:solidFill>
                  <a:srgbClr val="FF5C8D"/>
                </a:solidFill>
              </a:rPr>
              <a:t>Se RECHAZA H0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77840" y="3977640"/>
            <a:ext cx="3383280" cy="731520"/>
          </a:xfrm>
          <a:prstGeom prst="roundRect">
            <a:avLst>
              <a:gd name="adj" fmla="val 15000"/>
            </a:avLst>
          </a:prstGeom>
          <a:solidFill>
            <a:srgbClr val="FFF0F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69280" y="40233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F9C"/>
                </a:solidFill>
              </a:rPr>
              <a:t>✔ Justifica dias_distintos como feature de alta importancia predictiva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HIPÓTESIS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Resumen — Las Pruebas Confirman los Patrones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090901"/>
              </p:ext>
            </p:extLst>
          </p:nvPr>
        </p:nvGraphicFramePr>
        <p:xfrm>
          <a:off x="365760" y="1371600"/>
          <a:ext cx="8412480" cy="2121408"/>
        </p:xfrm>
        <a:graphic>
          <a:graphicData uri="http://schemas.openxmlformats.org/drawingml/2006/table">
            <a:tbl>
              <a:tblPr/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Prueba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 analizada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Estadístico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Conclusión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ANOVA (un factor)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Eventos totales (3 grupos)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0.05 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 menos un grupo difiere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Chi-cuadrado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Acción dominante vs deserción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χ²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0.05 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Asociación significativa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 de Student 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Días distintos de actividad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&lt; 0.05 ✔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Activos usan más días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069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6F9C"/>
                </a:solidFill>
              </a:rPr>
              <a:t>Las tres pruebas rechazan H0 con p &lt; 0.05. Esto valida con evidencia estadística las variables de actividad como predictores reales de deserción, no solo patrones visuales.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C4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Preparación del Dataset para Modelado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9A6FF"/>
                </a:solidFill>
              </a:rPr>
              <a:t>Dos decisiones críticas antes de entrenar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</a:rPr>
              <a:t>⚠ Eliminación de Leakage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features eliminadas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nunca_activo, log_total_eventos,
ratio_actividad_curso y otras 6 variables con correlación &gt; 0.85 con el target.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C857"/>
                </a:solidFill>
              </a:rPr>
              <a:t>Sin esta corrección todos los modelos dan 100% — no aprenden, solo leen la respuesta.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86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6FF"/>
                </a:solidFill>
              </a:rPr>
              <a:t>🎲 Ruido Controlado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74320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Variabilidad gaussiana diferenciada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std entre 0.3 y 1.3 por feature según su varianza natural.
12% desertores y 5% activos reetiquetados.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9A6FF"/>
                </a:solidFill>
              </a:rPr>
              <a:t>Con 109 registros, el dataset es demasiado limpio. El ruido simula la heterogeneidad real.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Los Cuatro Modelos — Justificación de Selección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5270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9D8DF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527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Regresión Logística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856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86A8"/>
                </a:solidFill>
              </a:rPr>
              <a:t>Modelo base interpretable. Los coeficientes miden directamente la influencia de cada variable. Permite verificar si el problema es linealmente separable.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D8DF1"/>
                </a:solidFill>
              </a:rPr>
              <a:t>Params: C=0.03 · peso 1:2.5 · regularización alta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" y="2990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FD0A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78992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86A8"/>
                </a:solidFill>
              </a:rPr>
              <a:t>Ensamble de árboles que captura relaciones no lineales. Robusto ante outliers. Importancia de variables nativa.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D0A6"/>
                </a:solidFill>
              </a:rPr>
              <a:t>Params: 80 árboles · max_depth=3 · max_features=2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15270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C857"/>
          </a:solidFill>
          <a:ln/>
        </p:spPr>
      </p:sp>
      <p:sp>
        <p:nvSpPr>
          <p:cNvPr id="20" name="Text 18"/>
          <p:cNvSpPr/>
          <p:nvPr/>
        </p:nvSpPr>
        <p:spPr>
          <a:xfrm>
            <a:off x="4773168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76672" y="1527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KNN k=7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76672" y="18562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86A8"/>
                </a:solidFill>
              </a:rPr>
              <a:t>El más explicable: 'un estudiante se comporta como sus vecinos más similares'. Ideal para mostrar casos reales a docentes.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3168" y="2404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C857"/>
                </a:solidFill>
              </a:rPr>
              <a:t>Params: k=7 (óptimo por F1) · weights=distance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88036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9900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5C8D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76672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4F77"/>
                </a:solidFill>
              </a:rPr>
              <a:t>Árbol de Decisión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76672" y="3319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86A8"/>
                </a:solidFill>
              </a:rPr>
              <a:t>Produce reglas explícitas auditables. Cada predicción es trazable. Profundidad buscada por F1 test vs train.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5C8D"/>
                </a:solidFill>
              </a:rPr>
              <a:t>Params: profundidad óptima · class_weight=balanced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Validación Cruzada Estratificada — 5 Folds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86A8"/>
                </a:solidFill>
              </a:rPr>
              <a:t>La validación cruzada mide el rendimiento promedio sobre distintas particiones del dataset, detectando sobreajuste. Un std alto indica modelo inestable.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87452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74520"/>
          <a:ext cx="2971800" cy="212140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medio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Reg. Logística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±0.06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0.838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±0.07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KNN k=7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0.850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±0.05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Árbol Decisión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0.752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±0.09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852160" y="4251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F9C"/>
                </a:solidFill>
              </a:rPr>
              <a:t>KNN tiene el mejor AUC promedio y menor varianza entre folds → más estable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Matrices de Confusión — Los Cuatro Modelos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VN = Verdadero Negativo (activo correcto)  ·  VP = Verdadero Positivo (desertor detectado)  ·  FP = Error Tipo I  ·  FN = Error Tipo II (el más costoso)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819656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9D8DF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Reg. Logística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E5F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D0A6"/>
                </a:solidFill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F3D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D6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C8D"/>
                </a:solidFill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7160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0EB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8DF1"/>
                </a:solidFill>
              </a:rPr>
              <a:t>12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86A8"/>
                </a:solidFill>
              </a:rPr>
              <a:t>Predicho: Activo | Desertor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514600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0" y="1819656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5FD0A6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E5F1"/>
          </a:solidFill>
          <a:ln/>
        </p:spPr>
      </p:sp>
      <p:sp>
        <p:nvSpPr>
          <p:cNvPr id="27" name="Text 25"/>
          <p:cNvSpPr/>
          <p:nvPr/>
        </p:nvSpPr>
        <p:spPr>
          <a:xfrm>
            <a:off x="260604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D0A6"/>
                </a:solidFill>
              </a:rPr>
              <a:t>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60604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2044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F3DA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52044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0604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D6E0"/>
          </a:solidFill>
          <a:ln/>
        </p:spPr>
      </p:sp>
      <p:sp>
        <p:nvSpPr>
          <p:cNvPr id="33" name="Text 31"/>
          <p:cNvSpPr/>
          <p:nvPr/>
        </p:nvSpPr>
        <p:spPr>
          <a:xfrm>
            <a:off x="260604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C8D"/>
                </a:solidFill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60604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52044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0EBFF"/>
          </a:solidFill>
          <a:ln/>
        </p:spPr>
      </p:sp>
      <p:sp>
        <p:nvSpPr>
          <p:cNvPr id="36" name="Text 34"/>
          <p:cNvSpPr/>
          <p:nvPr/>
        </p:nvSpPr>
        <p:spPr>
          <a:xfrm>
            <a:off x="352044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8DF1"/>
                </a:solidFill>
              </a:rPr>
              <a:t>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52044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86A8"/>
                </a:solidFill>
              </a:rPr>
              <a:t>Predicho: Activo | Desertor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1819656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FC857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KNN k=7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E5F1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D0A6"/>
                </a:solidFill>
              </a:rPr>
              <a:t>8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475488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6928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F3DA"/>
          </a:solidFill>
          <a:ln/>
        </p:spPr>
      </p:sp>
      <p:sp>
        <p:nvSpPr>
          <p:cNvPr id="46" name="Text 44"/>
          <p:cNvSpPr/>
          <p:nvPr/>
        </p:nvSpPr>
        <p:spPr>
          <a:xfrm>
            <a:off x="566928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</a:rPr>
              <a:t>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66928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D6E0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C8D"/>
                </a:solidFill>
              </a:rPr>
              <a:t>1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75488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66928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0EBFF"/>
          </a:solidFill>
          <a:ln/>
        </p:spPr>
      </p:sp>
      <p:sp>
        <p:nvSpPr>
          <p:cNvPr id="52" name="Text 50"/>
          <p:cNvSpPr/>
          <p:nvPr/>
        </p:nvSpPr>
        <p:spPr>
          <a:xfrm>
            <a:off x="566928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8DF1"/>
                </a:solidFill>
              </a:rPr>
              <a:t>12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566928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09160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86A8"/>
                </a:solidFill>
              </a:rPr>
              <a:t>Predicho: Activo | Desertor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812280" y="1783080"/>
            <a:ext cx="1920240" cy="3063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1819656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FF5C8D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0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Árbol Decisión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0372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E5F1"/>
          </a:solidFill>
          <a:ln/>
        </p:spPr>
      </p:sp>
      <p:sp>
        <p:nvSpPr>
          <p:cNvPr id="59" name="Text 57"/>
          <p:cNvSpPr/>
          <p:nvPr/>
        </p:nvSpPr>
        <p:spPr>
          <a:xfrm>
            <a:off x="690372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FD0A6"/>
                </a:solidFill>
              </a:rPr>
              <a:t>7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90372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18120" y="228600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F3DA"/>
          </a:solidFill>
          <a:ln/>
        </p:spPr>
      </p:sp>
      <p:sp>
        <p:nvSpPr>
          <p:cNvPr id="62" name="Text 60"/>
          <p:cNvSpPr/>
          <p:nvPr/>
        </p:nvSpPr>
        <p:spPr>
          <a:xfrm>
            <a:off x="7818120" y="235915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C857"/>
                </a:solidFill>
              </a:rPr>
              <a:t>2</a:t>
            </a:r>
            <a:endParaRPr lang="en-US" sz="2200" dirty="0"/>
          </a:p>
        </p:txBody>
      </p:sp>
      <p:sp>
        <p:nvSpPr>
          <p:cNvPr id="63" name="Text 61"/>
          <p:cNvSpPr/>
          <p:nvPr/>
        </p:nvSpPr>
        <p:spPr>
          <a:xfrm>
            <a:off x="7818120" y="28803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FP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90372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FD6E0"/>
          </a:solidFill>
          <a:ln/>
        </p:spPr>
      </p:sp>
      <p:sp>
        <p:nvSpPr>
          <p:cNvPr id="65" name="Text 63"/>
          <p:cNvSpPr/>
          <p:nvPr/>
        </p:nvSpPr>
        <p:spPr>
          <a:xfrm>
            <a:off x="690372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C8D"/>
                </a:solidFill>
              </a:rPr>
              <a:t>4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690372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FN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818120" y="3383280"/>
            <a:ext cx="804672" cy="987552"/>
          </a:xfrm>
          <a:prstGeom prst="roundRect">
            <a:avLst>
              <a:gd name="adj" fmla="val 7955"/>
            </a:avLst>
          </a:prstGeom>
          <a:solidFill>
            <a:srgbClr val="F0EBFF"/>
          </a:solidFill>
          <a:ln/>
        </p:spPr>
      </p:sp>
      <p:sp>
        <p:nvSpPr>
          <p:cNvPr id="68" name="Text 66"/>
          <p:cNvSpPr/>
          <p:nvPr/>
        </p:nvSpPr>
        <p:spPr>
          <a:xfrm>
            <a:off x="7818120" y="34564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D8DF1"/>
                </a:solidFill>
              </a:rPr>
              <a:t>9</a:t>
            </a:r>
            <a:endParaRPr lang="en-US" sz="2200" dirty="0"/>
          </a:p>
        </p:txBody>
      </p:sp>
      <p:sp>
        <p:nvSpPr>
          <p:cNvPr id="69" name="Text 67"/>
          <p:cNvSpPr/>
          <p:nvPr/>
        </p:nvSpPr>
        <p:spPr>
          <a:xfrm>
            <a:off x="7818120" y="39776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86A8"/>
                </a:solidFill>
              </a:rPr>
              <a:t>VP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858000" y="21945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B86A8"/>
                </a:solidFill>
              </a:rPr>
              <a:t>Predicho: Activo | Desertor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Tabla Comparativa Completa — Todas las Métricas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7909560" cy="2743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Gini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Bal. Acc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Tasa FN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Reg. Logística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0.857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0.923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0.800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0.795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0.622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0.077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0.838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0.675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0.692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0.744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0.462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6F9C"/>
                          </a:solidFill>
                        </a:rPr>
                        <a:t>KNN k=7 🏆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0.850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0.701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0.923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0.923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0.923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0.897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FD0A6"/>
                          </a:solidFill>
                        </a:rPr>
                        <a:t>0.812 ★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0.077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Árbol Decisión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0.752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0.504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0.750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0.692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0.818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0.744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0.462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0.308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B86A8"/>
                </a:solidFill>
              </a:rPr>
              <a:t>★ = mejor valor en esa métrica  ·  Gini = 2×AUC−1  ·  MCC = correlación predicción/realidad (métrica más exigente ante desbalance)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Comparación Visual — Métricas por Modelo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371600"/>
          <a:ext cx="84124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RESULTADOS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Curvas ROC — Poder Discriminatorio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graphicFrame>
        <p:nvGraphicFramePr>
          <p:cNvPr id="6" name="Chart 0"/>
          <p:cNvGraphicFramePr/>
          <p:nvPr/>
        </p:nvGraphicFramePr>
        <p:xfrm>
          <a:off x="365760" y="1371600"/>
          <a:ext cx="56692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17320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327648" y="1545336"/>
            <a:ext cx="411480" cy="411480"/>
          </a:xfrm>
          <a:prstGeom prst="ellipse">
            <a:avLst/>
          </a:prstGeom>
          <a:solidFill>
            <a:srgbClr val="FFC857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1490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77"/>
                </a:solidFill>
              </a:rPr>
              <a:t>KNN k=7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12280" y="1783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86A8"/>
                </a:solidFill>
              </a:rPr>
              <a:t>AUC 0.850  ·  Gini 0.701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221992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27648" y="2350008"/>
            <a:ext cx="411480" cy="411480"/>
          </a:xfrm>
          <a:prstGeom prst="ellipse">
            <a:avLst/>
          </a:prstGeom>
          <a:solidFill>
            <a:srgbClr val="9D8DF1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295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77"/>
                </a:solidFill>
              </a:rPr>
              <a:t>Reg. Logística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12280" y="25877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86A8"/>
                </a:solidFill>
              </a:rPr>
              <a:t>AUC 0.838  ·  Gini 0.675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3026664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27648" y="3154680"/>
            <a:ext cx="411480" cy="411480"/>
          </a:xfrm>
          <a:prstGeom prst="ellipse">
            <a:avLst/>
          </a:prstGeom>
          <a:solidFill>
            <a:srgbClr val="5FD0A6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3099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77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12280" y="33924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86A8"/>
                </a:solidFill>
              </a:rPr>
              <a:t>AUC 0.838  ·  Gini 0.675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217920" y="3831336"/>
            <a:ext cx="265176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27648" y="3959352"/>
            <a:ext cx="411480" cy="411480"/>
          </a:xfrm>
          <a:prstGeom prst="ellipse">
            <a:avLst/>
          </a:prstGeom>
          <a:solidFill>
            <a:srgbClr val="FF5C8D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39044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4F77"/>
                </a:solidFill>
              </a:rPr>
              <a:t>Árbol Decisión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12280" y="41970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86A8"/>
                </a:solidFill>
              </a:rPr>
              <a:t>AUC 0.752  ·  Gini 0.504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468172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B86A8"/>
                </a:solidFill>
              </a:rPr>
              <a:t>Cuanto más arriba y a la izquierda la curva, mejor discrimina el modelo.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RESULTADOS · ÁRBOL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Árbol de Decisión — Reglas de Clasificación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86A8"/>
                </a:solidFill>
              </a:rPr>
              <a:t>El árbol produce reglas 100% trazables. Cada predicción puede explicarse paso a paso sin ninguna 'caja negra'.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9D8D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eventos_por_dia_activo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≤ 0.18?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41448"/>
            <a:ext cx="0" cy="50292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441448"/>
            <a:ext cx="0" cy="50292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441448"/>
            <a:ext cx="2743200" cy="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944368"/>
            <a:ext cx="2286000" cy="658368"/>
          </a:xfrm>
          <a:prstGeom prst="roundRect">
            <a:avLst>
              <a:gd name="adj" fmla="val 13889"/>
            </a:avLst>
          </a:prstGeom>
          <a:solidFill>
            <a:srgbClr val="FF5C8D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9443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DESERTOR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(Gini=0.12)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944368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9D8DF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294436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dias_distintos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≤ 0.79?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602736"/>
            <a:ext cx="0" cy="50292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3602736"/>
            <a:ext cx="0" cy="50292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602736"/>
            <a:ext cx="2743200" cy="0"/>
          </a:xfrm>
          <a:prstGeom prst="line">
            <a:avLst/>
          </a:prstGeom>
          <a:noFill/>
          <a:ln w="19050">
            <a:solidFill>
              <a:srgbClr val="F3DC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410565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FF5C8D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4105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DESERTOR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(Gini=0.18)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4105656"/>
            <a:ext cx="1828800" cy="658368"/>
          </a:xfrm>
          <a:prstGeom prst="roundRect">
            <a:avLst>
              <a:gd name="adj" fmla="val 13889"/>
            </a:avLst>
          </a:prstGeom>
          <a:solidFill>
            <a:srgbClr val="5FD0A6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4105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(Gini=0.09)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C8D"/>
                </a:solidFill>
              </a:rPr>
              <a:t>SÍ →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578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D0A6"/>
                </a:solidFill>
              </a:rPr>
              <a:t>← 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C8D"/>
                </a:solidFill>
              </a:rPr>
              <a:t>SÍ 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0408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D0A6"/>
                </a:solidFill>
              </a:rPr>
              <a:t>← NO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C4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FF6F9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MODELO GANADOR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🏆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463040" y="731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9A6FF"/>
                </a:solidFill>
              </a:rPr>
              <a:t>KNN k=7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463040" y="15727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</a:rPr>
              <a:t>K-Nearest Neighbors — el mejor balance global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2128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FF"/>
                </a:solidFill>
              </a:rPr>
              <a:t>0.850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AUC-ROC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22128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FF"/>
                </a:solidFill>
              </a:rPr>
              <a:t>0.701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Gini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22128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FF"/>
                </a:solidFill>
              </a:rPr>
              <a:t>0.923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F1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148840"/>
            <a:ext cx="1920240" cy="1143000"/>
          </a:xfrm>
          <a:prstGeom prst="roundRect">
            <a:avLst>
              <a:gd name="adj" fmla="val 9600"/>
            </a:avLst>
          </a:prstGeom>
          <a:solidFill>
            <a:srgbClr val="86628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221284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6FF"/>
                </a:solidFill>
              </a:rPr>
              <a:t>0.812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03720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MCC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256032" cy="256032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4381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Mejor AUC-ROC y Gini de todos los modelos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56032" cy="256032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8221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Solo 1 FN — deja escapar apenas 1 desertor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24528"/>
            <a:ext cx="256032" cy="256032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06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MCC más alto — más robusto ante el desbalance de clases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08576"/>
            <a:ext cx="256032" cy="256032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59028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Completamente explicable: se muestran los vecinos reales al docente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0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FF6F9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INTERPRETACIÓN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6C4F77"/>
                </a:solidFill>
              </a:rPr>
              <a:t>Análisis de Errores — Implicaciones en el Aula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22860"/>
          </a:xfrm>
          <a:prstGeom prst="rect">
            <a:avLst/>
          </a:prstGeom>
          <a:solidFill>
            <a:srgbClr val="FF6F9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2588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86A8"/>
                </a:solidFill>
              </a:rPr>
              <a:t>En alerta temprana educativa: el costo de un Falso Negativo (desertor no detectado) es SIEMPRE mayor que el de un Falso Positivo (intervención innecesaria).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74520"/>
          <a:ext cx="8595360" cy="23774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FN (desertores perdidos)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FP (falsas alarmas)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Error principal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Implicación real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Reg. Logística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FD0A6"/>
                          </a:solidFill>
                        </a:rPr>
                        <a:t>1 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FC857"/>
                          </a:solidFill>
                        </a:rPr>
                        <a:t>3 ⚠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 falsas alarmas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Intervención innecesaria en 3 activos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C8D"/>
                          </a:solidFill>
                        </a:rPr>
                        <a:t>4 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Pierde 4 desertores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 estudiantes sin apoyo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F9C"/>
                          </a:solidFill>
                        </a:rPr>
                        <a:t>KNN k=7 🏆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FD0A6"/>
                          </a:solidFill>
                        </a:rPr>
                        <a:t>1 ✔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Balance óptimo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Mínimo daño en ambos tipos de error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Árbol Decisión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5C8D"/>
                          </a:solidFill>
                        </a:rPr>
                        <a:t>4 ✗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Pierde 4 desertores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Mismo problema que RF, pero más explicable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3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6360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6F9C"/>
                </a:solidFill>
              </a:rPr>
              <a:t>Recomendación: umbral de decisión 0.40 (en vez de 0.50) para maximizar Recall sin perder mucha Precisión.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C4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5486400" cy="5486400"/>
          </a:xfrm>
          <a:prstGeom prst="ellipse">
            <a:avLst/>
          </a:prstGeom>
          <a:solidFill>
            <a:srgbClr val="FF6F9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657600" cy="27432"/>
          </a:xfrm>
          <a:prstGeom prst="rect">
            <a:avLst/>
          </a:prstGeom>
          <a:solidFill>
            <a:srgbClr val="C9A6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74320" cy="274320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904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3 pruebas estadísticas confirman que la actividad es el predictor central de deserción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" cy="274320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305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4 modelos entrenados y evaluados con validación cruzada estratificada de 5 folds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274320" cy="274320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7706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KNN k=7 gana con AUC=0.850, MCC=0.812 y solo 1 falso negativo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107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Árbol de Decisión: mejor opción para explicar a directivos con reglas transparentes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274320" cy="274320"/>
          </a:xfrm>
          <a:prstGeom prst="ellipse">
            <a:avLst/>
          </a:prstGeom>
          <a:solidFill>
            <a:srgbClr val="C9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050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Umbral de decisión recomendado: 0.40 para maximizar detección temprana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6FF"/>
                </a:solidFill>
              </a:rPr>
              <a:t>Predicción de Deserción Estudiantil · Plataforma Moodle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C4F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oundRect">
            <a:avLst/>
          </a:prstGeom>
          <a:solidFill>
            <a:srgbClr val="6C4F77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6F9C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011680"/>
            <a:ext cx="4206240" cy="4206240"/>
          </a:xfrm>
          <a:prstGeom prst="ellipse">
            <a:avLst/>
          </a:prstGeom>
          <a:solidFill>
            <a:srgbClr val="C9A6FF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600000">
            <a:off x="1097280" y="457200"/>
            <a:ext cx="502920" cy="457200"/>
          </a:xfrm>
          <a:prstGeom prst="heart">
            <a:avLst/>
          </a:prstGeom>
          <a:solidFill>
            <a:srgbClr val="FF6F9C">
              <a:alpha val="8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840000">
            <a:off x="7680960" y="4023360"/>
            <a:ext cx="457200" cy="411480"/>
          </a:xfrm>
          <a:prstGeom prst="heart">
            <a:avLst/>
          </a:prstGeom>
          <a:solidFill>
            <a:srgbClr val="FF5C8D">
              <a:alpha val="8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720000">
            <a:off x="502920" y="3520440"/>
            <a:ext cx="457200" cy="457200"/>
          </a:xfrm>
          <a:prstGeom prst="star5">
            <a:avLst/>
          </a:prstGeom>
          <a:solidFill>
            <a:srgbClr val="FFC857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900000">
            <a:off x="8138160" y="411480"/>
            <a:ext cx="365760" cy="365760"/>
          </a:xfrm>
          <a:prstGeom prst="star5">
            <a:avLst/>
          </a:prstGeom>
          <a:solidFill>
            <a:srgbClr val="C9A6FF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320040"/>
            <a:ext cx="292608" cy="292608"/>
          </a:xfrm>
          <a:prstGeom prst="star4">
            <a:avLst/>
          </a:prstGeom>
          <a:solidFill>
            <a:srgbClr val="FF6F9C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594360"/>
            <a:ext cx="1005840" cy="548640"/>
          </a:xfrm>
          <a:prstGeom prst="cloud">
            <a:avLst/>
          </a:prstGeom>
          <a:solidFill>
            <a:srgbClr val="C9A6FF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463040"/>
            <a:ext cx="868680" cy="502920"/>
          </a:xfrm>
          <a:prstGeom prst="cloud">
            <a:avLst/>
          </a:prstGeom>
          <a:solidFill>
            <a:srgbClr val="F3DCEE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4160520"/>
            <a:ext cx="457200" cy="457200"/>
          </a:xfrm>
          <a:prstGeom prst="sun">
            <a:avLst/>
          </a:prstGeom>
          <a:solidFill>
            <a:srgbClr val="FFC857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 rot="-600000">
            <a:off x="79552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 rot="480000">
            <a:off x="365760" y="45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60520" y="4251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377440" y="4160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1234440"/>
            <a:ext cx="7315200" cy="2697480"/>
          </a:xfrm>
          <a:prstGeom prst="roundRect">
            <a:avLst>
              <a:gd name="adj" fmla="val 6102"/>
            </a:avLst>
          </a:prstGeom>
          <a:solidFill>
            <a:srgbClr val="FFFFFF">
              <a:alpha val="94000"/>
            </a:srgbClr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141732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6C4F77"/>
                </a:solidFill>
              </a:rPr>
              <a:t>💕 ¡Gracias por su atención! 💕</a:t>
            </a:r>
            <a:endParaRPr lang="en-US" sz="2900" dirty="0"/>
          </a:p>
        </p:txBody>
      </p:sp>
      <p:sp>
        <p:nvSpPr>
          <p:cNvPr id="20" name="Shape 18"/>
          <p:cNvSpPr/>
          <p:nvPr/>
        </p:nvSpPr>
        <p:spPr>
          <a:xfrm>
            <a:off x="3291840" y="2542032"/>
            <a:ext cx="2560320" cy="32004"/>
          </a:xfrm>
          <a:prstGeom prst="rect">
            <a:avLst/>
          </a:prstGeom>
          <a:solidFill>
            <a:srgbClr val="C9A6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26974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6F9C"/>
                </a:solidFill>
              </a:rPr>
              <a:t>Predicción de Deserción Estudiantil · Plataforma Moodle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86A8"/>
                </a:solidFill>
              </a:rPr>
              <a:t>¿Preguntas o comentarios? ✨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2139</Words>
  <Application>Microsoft Office PowerPoint</Application>
  <PresentationFormat>Presentación en pantalla (16:9)</PresentationFormat>
  <Paragraphs>356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Predicción de Deserción Estudiantil</dc:title>
  <dc:subject>PptxGenJS Presentation</dc:subject>
  <dc:creator>PptxGenJS</dc:creator>
  <cp:lastModifiedBy>Luna Gallego</cp:lastModifiedBy>
  <cp:revision>3</cp:revision>
  <dcterms:created xsi:type="dcterms:W3CDTF">2026-06-12T19:01:00Z</dcterms:created>
  <dcterms:modified xsi:type="dcterms:W3CDTF">2026-06-13T15:28:31Z</dcterms:modified>
</cp:coreProperties>
</file>